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22adab5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f22adab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f22adab5e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f22adab5e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f22adab5e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f22adab5e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f22adab5e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f22adab5e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f22adab5e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f22adab5e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f22adab5e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f22adab5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f22adab5e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f22adab5e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f22adab5e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f22adab5e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f22adab5e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f22adab5e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f22adab5e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f22adab5e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f22adab5e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f22adab5e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f22adab5e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f22adab5e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f22adab5e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f22adab5e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766250" y="63767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CRUCEROS | ANÁLISIS DE RENDIMIENTO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Dashboard Estratégico - Predicciones 2026 - Insights Accionables</a:t>
            </a:r>
            <a:endParaRPr sz="120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5887850" y="3840875"/>
            <a:ext cx="2833800" cy="63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Andrés Rivas Amil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8779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 title="Resumen-KP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575" y="375675"/>
            <a:ext cx="7716325" cy="37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 title="top3 Insight por bar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38" y="152400"/>
            <a:ext cx="778913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 title="analisis tempor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025" y="683725"/>
            <a:ext cx="4774250" cy="21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349875" y="959125"/>
            <a:ext cx="2642400" cy="2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negocio muestra un crecimiento exponencial desde 2017, con ingresos que pasan de $55K a $8.9M mensuales. La estacionalidad es clara: picos en enero-febrero (~2,100 reservas) y valles en mayo (~900 reservas). El Lead Time ha caído de 179 a 5 días, reflejando un cambio en el comportamiento del cliente hacia reservas de última hora.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41450" y="0"/>
            <a:ext cx="857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Evolución de ingresos y reservas</a:t>
            </a:r>
            <a:r>
              <a:rPr b="1" lang="es" sz="30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6" name="Google Shape;96;p17" title="Lead Ti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7025" y="2865800"/>
            <a:ext cx="4774250" cy="221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334975" y="744125"/>
            <a:ext cx="8530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canal B2B (agencias) es el más importante en volumen y facturación, representando el 44% del total de reservas. El canal Web le sigue con un 35%, mientras que Directo representa el 21%. La satisfacción es uniforme (~4.58) en todos los canales, indicando una experiencia consistente independientemente del canal de compra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Ventas por canales de venta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" name="Google Shape;103;p18" title="Ventas por booking sour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63" y="1789000"/>
            <a:ext cx="7043425" cy="29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476400" y="585000"/>
            <a:ext cx="84111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All Inclusive es el producto estrella, pero el All Inclusive + EXC tiene margen de crecimiento (+2% vs 2021). Los packages con EXC (excursiones) tienen un gasto diario ligeramente mayor, sugiriendo que los clientes que compran excursiones gastan más a bordo.</a:t>
            </a:r>
            <a:r>
              <a:rPr lang="es" sz="1100">
                <a:solidFill>
                  <a:schemeClr val="dk2"/>
                </a:solidFill>
              </a:rPr>
              <a:t> 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Rendimiento por Package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19" title="Pack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226" y="1600850"/>
            <a:ext cx="6911551" cy="306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491275" y="711550"/>
            <a:ext cx="84111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mercado norteamericano (USA + Canadá) genera $120.4M (40% del total)**, mientras que el mercado **europeo** genera **$135M (45% del total). Ambos bloques son estratégicos y requieren enfoques diferenciados.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Análisis geográfico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20" title="facturacion por país.png"/>
          <p:cNvPicPr preferRelativeResize="0"/>
          <p:nvPr/>
        </p:nvPicPr>
        <p:blipFill rotWithShape="1">
          <a:blip r:embed="rId3">
            <a:alphaModFix/>
          </a:blip>
          <a:srcRect b="0" l="0" r="0" t="7527"/>
          <a:stretch/>
        </p:blipFill>
        <p:spPr>
          <a:xfrm>
            <a:off x="589150" y="1600375"/>
            <a:ext cx="7679501" cy="2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476400" y="585000"/>
            <a:ext cx="84111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Lead Time (tiempo de anticipación en la reserva) es prácticamente homogéneo en todos los países, con valores entre 99 y 100 días. España, Canadá, México e Italia presentan el lead time más alto (100 días), mientras que USA, Alemania, UK y Francia tienen un lead time ligeramente inferior (99 días). Esta homogeneidad sugiere un comportamiento de compra consistente en todos los mercados, lo que facilita la planificación de campañas globales.</a:t>
            </a:r>
            <a:r>
              <a:rPr lang="es" sz="1100">
                <a:solidFill>
                  <a:schemeClr val="dk2"/>
                </a:solidFill>
              </a:rPr>
              <a:t> 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Análisis geográfico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21" title="lead time por pa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713" y="1511100"/>
            <a:ext cx="6746367" cy="3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476400" y="585000"/>
            <a:ext cx="84111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Balcony es el tipo de suite más demandado con 27,200 reservas (36% del total), seguido de Interior con 22,991 (30%) y Oceanview con 19,315 (26%). Las Suites representan el segmento más pequeño con 7,534 reservas (10%), confirmando su posicionamiento como nicho premium. La distribución muestra un mercado equilibrado en las categorías medias, con oportunidad de crecimiento en el segmento premium.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Reservas por Tipo Suite y Rentabilidad por pasajero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1" name="Google Shape;131;p22" title="Volumen de reservas por tipo de su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50" y="1559275"/>
            <a:ext cx="4365849" cy="26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 title="Ranking de rentabilidad por pasaje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424" y="1559275"/>
            <a:ext cx="4320951" cy="2136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/>
        </p:nvSpPr>
        <p:spPr>
          <a:xfrm>
            <a:off x="4650100" y="3826000"/>
            <a:ext cx="428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 brecha del 287% entre Queen Mary 2 y Disney Dream evidencia que la estrategia de lujo y estancias largas es la más rentable. Disney Dream, a pesar de liderar en satisfacción (4.88), tiene un margen de mejora significativo en la duración de sus estancias.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349875" y="585000"/>
            <a:ext cx="3528300" cy="26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 matriz de correlación revela relaciones clave entre las métricas del negocio: Satisfacción vs Gasto (0.92) muestra una relación muy fuerte, indicando que los clientes que más gastan están más satisfechos. Revenue_Pax vs Ocupación (-0.57) confirma que ocupación no es igual a rentabilidad. El Lead Time (~0) no influye en ninguna métrica clave.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Matriz de Correlación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3" title="Matriz de correlació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875" y="535600"/>
            <a:ext cx="3735061" cy="3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/>
        </p:nvSpPr>
        <p:spPr>
          <a:xfrm>
            <a:off x="4242875" y="4034375"/>
            <a:ext cx="4067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"Satisfacción vs Gasto: 0.92 → Correlación muy fuerte"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"Revenue_Pax vs Ocupación: -0.57 → Ocupación no es rentabilidad"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"Lead Time: ~0 → No influye en métricas clave"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/>
        </p:nvSpPr>
        <p:spPr>
          <a:xfrm>
            <a:off x="342425" y="994838"/>
            <a:ext cx="2694600" cy="3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modelo predictivo basado en patrones pre-COVID (Holt-Winters) proyecta un ingreso total de $28.15M en los próximos 3 meses**, con un **promedio diario de $312,821. El comportamiento es altamente estable (desviación ±$3,979), con picos consistentes los lunes y valles los fines de semana. La alta previsibilidad del modelo permite una planificación financiera y operativa confiable, representando un +22% de crecimiento vs 2021.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ML - Predicciones de Venta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8" name="Google Shape;148;p24" title="dashboard predicciones.png"/>
          <p:cNvPicPr preferRelativeResize="0"/>
          <p:nvPr/>
        </p:nvPicPr>
        <p:blipFill rotWithShape="1">
          <a:blip r:embed="rId3">
            <a:alphaModFix/>
          </a:blip>
          <a:srcRect b="2515" l="0" r="0" t="0"/>
          <a:stretch/>
        </p:blipFill>
        <p:spPr>
          <a:xfrm>
            <a:off x="3037025" y="767200"/>
            <a:ext cx="6006927" cy="36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/>
        </p:nvSpPr>
        <p:spPr>
          <a:xfrm>
            <a:off x="565750" y="585000"/>
            <a:ext cx="77190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El modelo de regresión (R²=0.909) identifica que aumentar cabinas reservadas (+$1,392)** y **pasajeros (+$1,306) son las palancas más efectivas para incrementar ingresos. Cada noche adicional de estancia genera +$553. La **satisfacción** penaliza los ingresos en -$308, lo que sugiere que los clientes más exigentes gastan menos.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141450" y="0"/>
            <a:ext cx="85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6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ML - Modelo de Regresión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5" name="Google Shape;155;p25" title="Modelo de regre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50" y="1541300"/>
            <a:ext cx="7830575" cy="33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900" y="152400"/>
            <a:ext cx="777421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